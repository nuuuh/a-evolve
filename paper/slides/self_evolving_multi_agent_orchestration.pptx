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95" r:id="rId46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94" r:id="rId45"/>
    <p:sldId id="285" r:id="rId36"/>
    <p:sldId id="286" r:id="rId37"/>
    <p:sldId id="287" r:id="rId38"/>
    <p:sldId id="293" r:id="rId44"/>
    <p:sldId id="288" r:id="rId39"/>
    <p:sldId id="289" r:id="rId40"/>
    <p:sldId id="292" r:id="rId43"/>
    <p:sldId id="291" r:id="rId42"/>
    <p:sldId id="29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137EEE-C463-8C4C-BC69-ADF1992A6FEC}">
          <p14:sldIdLst>
            <p14:sldId id="256"/>
            <p14:sldId id="14224"/>
          </p14:sldIdLst>
        </p14:section>
        <p14:section name="Default Section" id="{4157D9D1-C584-41F1-B2F5-B3DEFD68774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B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79"/>
    <p:restoredTop sz="90313"/>
  </p:normalViewPr>
  <p:slideViewPr>
    <p:cSldViewPr snapToGrid="0">
      <p:cViewPr varScale="1">
        <p:scale>
          <a:sx n="110" d="100"/>
          <a:sy n="110" d="100"/>
        </p:scale>
        <p:origin x="1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38.xml"/><Relationship Id="rId44" Type="http://schemas.openxmlformats.org/officeDocument/2006/relationships/slide" Target="slides/slide35.xml"/><Relationship Id="rId45" Type="http://schemas.openxmlformats.org/officeDocument/2006/relationships/slide" Target="slides/slide32.xml"/><Relationship Id="rId4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CB49E-DDCF-4B4D-80F8-F626A357EAA5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810C8-0389-5A48-817E-CE253F88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8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A4-06FC-32FB-45DD-F99520655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4D95E-FE41-E552-75D2-FC3F428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94B38-9C85-BCD6-BDA7-CFEE3368E0BE}"/>
              </a:ext>
            </a:extLst>
          </p:cNvPr>
          <p:cNvSpPr txBox="1"/>
          <p:nvPr userDrawn="1"/>
        </p:nvSpPr>
        <p:spPr>
          <a:xfrm>
            <a:off x="4901609" y="66240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0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04C1-47A3-4F0D-2116-8D8F4814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DEAC-D9EB-5FFD-7070-CDEC6C507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971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EE01-EB2E-A8F0-650C-0CF9BB0F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6868"/>
            <a:ext cx="10515600" cy="1322125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D19B-26B8-458C-ACAE-5EF74A9A2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25981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49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F343-94CA-7105-1944-D56E7AB80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8922"/>
            <a:ext cx="5181600" cy="476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8EACF-816E-AA15-6CF5-205863FF8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922"/>
            <a:ext cx="5181600" cy="4768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EA81DD-805C-BAE5-9D16-8AC6AF9A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73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5D69A-7DA9-212D-5C33-0F29ECFA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B5980-8DF6-25FE-4B72-867F0E15E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55CF5-88FB-3416-1715-B53C6015F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85FB5-8D7B-4915-9E01-1A9555690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360416-D0A5-CBBB-D0DE-43A4FE2F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108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3C7BB3-8A79-F784-6EF6-F8B283C2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62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2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9AC8-C496-339F-CF31-0031AD50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4D3A-B077-0F9B-A950-821AE0613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EAFA7-BF17-C779-9959-FCCF0F8E7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66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7CB2-EF52-EED5-AC90-CB9CD18F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06449-7A90-EF10-0275-6BA768CD5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7703B-3EAB-B887-EFDE-462E0DC31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49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405D-A955-C07C-DBDC-6E5760D2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99B20-4C5D-30E5-14B3-931C59333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826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ECE6C-B75D-F4BE-505B-6EFCAD720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BCB58-02F1-ECDF-CCBD-518B862E7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0494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FAF52-27A0-725A-E5D8-E778EC05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EBD48-3840-C2A0-CC53-18213BE6D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0FAC4-2331-FBB4-AA79-B1C7DC7A5552}"/>
              </a:ext>
            </a:extLst>
          </p:cNvPr>
          <p:cNvSpPr/>
          <p:nvPr userDrawn="1"/>
        </p:nvSpPr>
        <p:spPr>
          <a:xfrm>
            <a:off x="0" y="6445198"/>
            <a:ext cx="12192000" cy="412801"/>
          </a:xfrm>
          <a:prstGeom prst="rect">
            <a:avLst/>
          </a:prstGeom>
          <a:solidFill>
            <a:srgbClr val="232B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2F65274-09C3-31C7-2284-70B3EA48E8E3}"/>
              </a:ext>
            </a:extLst>
          </p:cNvPr>
          <p:cNvSpPr txBox="1">
            <a:spLocks/>
          </p:cNvSpPr>
          <p:nvPr userDrawn="1"/>
        </p:nvSpPr>
        <p:spPr>
          <a:xfrm>
            <a:off x="131618" y="644519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377BCD-D4F2-C14B-B8E2-5984C3AA3000}" type="datetimeFigureOut">
              <a:rPr lang="en-US" smtClean="0"/>
              <a:pPr/>
              <a:t>4/28/26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4C031F7-8762-4BBC-ADEC-9C072A45FDDF}"/>
              </a:ext>
            </a:extLst>
          </p:cNvPr>
          <p:cNvSpPr txBox="1">
            <a:spLocks/>
          </p:cNvSpPr>
          <p:nvPr userDrawn="1"/>
        </p:nvSpPr>
        <p:spPr>
          <a:xfrm>
            <a:off x="3841173" y="646453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Zewen Liu (zewen.liu@emory.edu)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355EF9-4108-FCB3-2FA0-89B1B17E64C0}"/>
              </a:ext>
            </a:extLst>
          </p:cNvPr>
          <p:cNvSpPr txBox="1">
            <a:spLocks/>
          </p:cNvSpPr>
          <p:nvPr userDrawn="1"/>
        </p:nvSpPr>
        <p:spPr>
          <a:xfrm>
            <a:off x="8776855" y="644519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FBD3BA-7D4F-1A48-B374-7B50AA81DAF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41B103-8EAB-69A2-543F-CB17155A6726}"/>
              </a:ext>
            </a:extLst>
          </p:cNvPr>
          <p:cNvGrpSpPr/>
          <p:nvPr userDrawn="1"/>
        </p:nvGrpSpPr>
        <p:grpSpPr>
          <a:xfrm>
            <a:off x="11119425" y="6492869"/>
            <a:ext cx="829608" cy="339385"/>
            <a:chOff x="11024755" y="6481972"/>
            <a:chExt cx="942364" cy="3855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447F7F-A8D2-BC65-CCBF-78C8DD3DBF2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clrChange>
                <a:clrFrom>
                  <a:srgbClr val="224D9B"/>
                </a:clrFrom>
                <a:clrTo>
                  <a:srgbClr val="224D9B">
                    <a:alpha val="0"/>
                  </a:srgbClr>
                </a:clrTo>
              </a:clrChange>
            </a:blip>
            <a:srcRect t="72814" b="9880"/>
            <a:stretch/>
          </p:blipFill>
          <p:spPr>
            <a:xfrm>
              <a:off x="11072990" y="6712741"/>
              <a:ext cx="894129" cy="154744"/>
            </a:xfrm>
            <a:prstGeom prst="rect">
              <a:avLst/>
            </a:prstGeom>
          </p:spPr>
        </p:pic>
        <p:pic>
          <p:nvPicPr>
            <p:cNvPr id="15" name="Picture 8" descr="Emory University Logo and symbol, meaning, history, PNG, brand">
              <a:extLst>
                <a:ext uri="{FF2B5EF4-FFF2-40B4-BE49-F238E27FC236}">
                  <a16:creationId xmlns:a16="http://schemas.microsoft.com/office/drawing/2014/main" id="{22AD60FD-F9AD-B7E6-7994-4D2E8E4AD5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14">
              <a:clrChange>
                <a:clrFrom>
                  <a:srgbClr val="004990"/>
                </a:clrFrom>
                <a:clrTo>
                  <a:srgbClr val="00499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91" t="28431" r="2482" b="44341"/>
            <a:stretch/>
          </p:blipFill>
          <p:spPr bwMode="auto">
            <a:xfrm>
              <a:off x="11024755" y="6481972"/>
              <a:ext cx="917486" cy="218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8759CD7D-EA15-0ADB-4F1B-CE1685F988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224D9B"/>
              </a:clrFrom>
              <a:clrTo>
                <a:srgbClr val="224D9B">
                  <a:alpha val="0"/>
                </a:srgbClr>
              </a:clrTo>
            </a:clrChange>
          </a:blip>
          <a:srcRect l="13116" t="4579" r="16587" b="28825"/>
          <a:stretch/>
        </p:blipFill>
        <p:spPr>
          <a:xfrm>
            <a:off x="10659880" y="6454395"/>
            <a:ext cx="426027" cy="4036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341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4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4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572768" y="932688"/>
            <a:ext cx="8915400" cy="2057400"/>
          </a:xfrm>
          <a:prstGeom prst="roundRect">
            <a:avLst/>
          </a:prstGeom>
          <a:solidFill>
            <a:srgbClr val="222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207008"/>
            <a:ext cx="9372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Self-Evolving</a:t>
            </a:r>
            <a:br/>
            <a:r>
              <a:t>Multi-Agent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401568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22B64"/>
                </a:solidFill>
              </a:defRPr>
            </a:pPr>
            <a:r>
              <a:t>Group Presentation</a:t>
            </a:r>
          </a:p>
          <a:p>
            <a:pPr algn="ctr">
              <a:defRPr sz="2000">
                <a:solidFill>
                  <a:srgbClr val="222B64"/>
                </a:solidFill>
              </a:defRPr>
            </a:pPr>
            <a:r>
              <a:t>from fixed MAS to adaptive orchestration</a:t>
            </a:r>
          </a:p>
          <a:p>
            <a:pPr algn="ctr">
              <a:defRPr sz="2000">
                <a:solidFill>
                  <a:srgbClr val="222B64"/>
                </a:solidFill>
              </a:defRPr>
            </a:pPr>
            <a:r>
              <a:t>arXiv:2505.19591 · 2505.14996 · 2601.14652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What Is Orchestration?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02_orchestration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Decides how agents are organized, activated, connected, and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What Orchestration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Five control dimensions determine the behavior of a multi-agent system.</a:t>
            </a:r>
          </a:p>
        </p:txBody>
      </p:sp>
      <p:pic>
        <p:nvPicPr>
          <p:cNvPr id="6" name="Picture 5" descr="custom_03_five_decision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Static 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04_static_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Traditional systems hard-code the collaboration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Different Tasks Need Different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05_task_specific_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A single fixed workflow is rarely optimal across task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Challenge C1: Static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Fixed graphs cannot adapt as the task state changes.</a:t>
            </a:r>
          </a:p>
        </p:txBody>
      </p:sp>
      <p:pic>
        <p:nvPicPr>
          <p:cNvPr id="6" name="Picture 5" descr="custom_06_c1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Challenge C2: Supervision / Search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Learning or searching orchestration can require expensive feedback.</a:t>
            </a:r>
          </a:p>
        </p:txBody>
      </p:sp>
      <p:pic>
        <p:nvPicPr>
          <p:cNvPr id="6" name="Picture 5" descr="custom_07_c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Challenge C3: When Does MAS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Coordination can help, but it also consumes budget.</a:t>
            </a:r>
          </a:p>
        </p:txBody>
      </p:sp>
      <p:pic>
        <p:nvPicPr>
          <p:cNvPr id="6" name="Picture 5" descr="custom_08_c3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09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Each paper addresses a different bottleneck in adaptive orchestration.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Paper 1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Static/manual MAS cannot adapt to evolving task states.</a:t>
            </a:r>
          </a:p>
        </p:txBody>
      </p:sp>
      <p:pic>
        <p:nvPicPr>
          <p:cNvPr id="6" name="Picture 5" descr="custom_10_p1_motivation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Core Idea: Puppeteer and Puppets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1_puppet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A learned central policy dynamically activates agents.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What Evolves? (Puppeteer)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2_what_evolve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The orchestration policy, not the base agents.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Dynamic Agent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3_dynamic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The next agent is chosen from the current reasoning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RL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4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Reward encourages correct answers while limiting unnecessary computation.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Method Illustration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Puppeteer controls agent activation as the task evolves.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Multi-Agent Collaboration via Evolving Orchestration, arXiv:2505.19591</a:t>
            </a:r>
          </a:p>
        </p:txBody>
      </p:sp>
      <p:pic>
        <p:nvPicPr>
          <p:cNvPr id="7" name="Picture 6" descr="paper_eo_fig1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97039"/>
            <a:ext cx="11000232" cy="44822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Experiment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_e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518" y="960120"/>
            <a:ext cx="8699916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Benchmarks cover closed- and open-domain reasoning settings.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Multi-Agent Collaboration via Evolving Orchestration, arXiv:2505.19591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Evolved orchestration improves average performance over strong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Multi-Agent Collaboration via Evolving Orchestration, arXiv:2505.19591</a:t>
            </a:r>
          </a:p>
        </p:txBody>
      </p:sp>
      <p:pic>
        <p:nvPicPr>
          <p:cNvPr id="7" name="Picture 6" descr="paper_eo_main_results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251" y="960120"/>
            <a:ext cx="9578449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Structure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Learned organization shifts toward graph/cyclic structures.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Multi-Agent Collaboration via Evolving Orchestration, arXiv:2505.19591</a:t>
            </a:r>
          </a:p>
        </p:txBody>
      </p:sp>
      <p:pic>
        <p:nvPicPr>
          <p:cNvPr id="7" name="Picture 6" descr="paper_eo_topology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11" y="960120"/>
            <a:ext cx="9897730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Paper 1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9_takeaway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Learned dynamic control solves the static-topology bottleneck.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Paper 2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0_maszero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Automatic MAS design should not require validation tuning.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From Trained Control to Self-Design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19b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Paper 1 learns dynamic control via RL. Paper 2 removes the training requirement.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Core Idea: MAS-ZERO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_mz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71474"/>
            <a:ext cx="11000232" cy="4933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A meta-agent designs, refines, and verifies a MAS at inference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MAS-ZERO, arXiv:2505.14996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What Evolves? (MAS-ZERO)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2_desig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The per-task MAS configuration and decomposition.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Meta-Agent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Design, solve, critique, and refine without supervised tuning.</a:t>
            </a:r>
          </a:p>
        </p:txBody>
      </p:sp>
      <p:pic>
        <p:nvPicPr>
          <p:cNvPr id="6" name="Picture 5" descr="custom_23_meta_loo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Dynamic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4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Hard problems are split into sub-tasks handled by sub-MAS modules.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Simplify When MAS Is Not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5_simpl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The system can revert to a simpler strategy.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Experiment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_mz_setu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95" y="960120"/>
            <a:ext cx="1044276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Reasoning, coding, and agentic/search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MAS-ZERO, arXiv:2505.14996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Main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MAS-ZERO outperforms manual and automatic MAS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MAS-ZERO, arXiv:2505.14996</a:t>
            </a:r>
          </a:p>
        </p:txBody>
      </p:sp>
      <p:pic>
        <p:nvPicPr>
          <p:cNvPr id="7" name="Picture 6" descr="paper_mz_main_results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66" y="960120"/>
            <a:ext cx="8751219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Ablation: Why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Iterative evolution and stronger verification unlock gains.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MAS-ZERO, arXiv:2505.14996</a:t>
            </a:r>
          </a:p>
        </p:txBody>
      </p:sp>
      <p:pic>
        <p:nvPicPr>
          <p:cNvPr id="7" name="Picture 6" descr="paper_mz_ablation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32891"/>
            <a:ext cx="11000231" cy="36105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Paper 2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9_takeaway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Test-time self-design addresses supervision and validation cost.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Paper 3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30_when_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We still need to know when MAS is worth the coordination cost.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From Self-Design to Understanding 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29b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Paper 2 removes supervision cost. Paper 3 asks: when does MAS actually help?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Core Idea: Holistic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Generate the whole MAS structure in one global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MAS-Orchestra, arXiv:2601.14652</a:t>
            </a:r>
          </a:p>
        </p:txBody>
      </p:sp>
      <p:pic>
        <p:nvPicPr>
          <p:cNvPr id="7" name="Picture 6" descr="paper_mo_paradigm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18604"/>
            <a:ext cx="11000232" cy="423907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Function-Calling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32_function_c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Subagents are exposed as callable functions.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What Evolves? (MAS-Orchestra)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31b_what_evolve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The full MAS structure is generated in one holistic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Source: MAS-Orchestra, arXiv:2601.14652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MASBench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_mo_mas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739" y="960120"/>
            <a:ext cx="7667473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Controlled axes reveal which task structures benefit from 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MAS-Orchestra, arXiv:2601.14652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Main Results and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_mo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91" y="960120"/>
            <a:ext cx="5108969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MAS-Orchestra lies on the performance-cost Pareto frontier.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787882"/>
                </a:solidFill>
              </a:defRPr>
            </a:pPr>
            <a:r>
              <a:t>Source: MAS-Orchestra, arXiv:2601.14652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MASBench: Five Axes of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33b_masbench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Controlled axes enable systematic MAS vs SAS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Source: MAS-Orchestra, arXiv:2601.14652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2B64"/>
                </a:solidFill>
              </a:defRPr>
            </a:pPr>
            <a:r>
              <a:t>Final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E1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9707D"/>
                </a:solidFill>
              </a:defRPr>
            </a:pPr>
            <a:r>
              <a:t>The trend: fixed MAS → adaptive orchestration → strategy navigation.</a:t>
            </a:r>
          </a:p>
        </p:txBody>
      </p:sp>
      <p:pic>
        <p:nvPicPr>
          <p:cNvPr id="6" name="Picture 5" descr="custom_35_final_synthesi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Key Insight: When MAS Helps Most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m_34b_edge_compe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960120"/>
            <a:ext cx="8810752" cy="4956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53328"/>
            <a:ext cx="10789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88888"/>
                </a:solidFill>
              </a:rPr>
              <a:t>MAS is most effective at the edge of sub-agent competence.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5AD6F6-FF76-7747-B8F9-693BE43A9121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22616</TotalTime>
  <Words>26</Words>
  <Application>Microsoft Macintosh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Agentic Evolution for Temporal 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Jin, Wei</dc:creator>
  <cp:lastModifiedBy>Liu, Zewen</cp:lastModifiedBy>
  <cp:revision>690</cp:revision>
  <cp:lastPrinted>2023-10-11T18:50:13Z</cp:lastPrinted>
  <dcterms:created xsi:type="dcterms:W3CDTF">2023-09-10T17:58:06Z</dcterms:created>
  <dcterms:modified xsi:type="dcterms:W3CDTF">2026-04-29T03:54:48Z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2026-03-16T18:08:09Z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f957937a-1d44-4cfd-8092-42d511c5f6f5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